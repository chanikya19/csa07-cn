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Afacad Flux Medium"/>
      <p:regular r:id="rId13"/>
      <p:bold r:id="rId14"/>
    </p:embeddedFont>
    <p:embeddedFont>
      <p:font typeface="Afacad Flux"/>
      <p:regular r:id="rId15"/>
      <p:bold r:id="rId16"/>
    </p:embeddedFont>
    <p:embeddedFont>
      <p:font typeface="Source Code Pro"/>
      <p:regular r:id="rId17"/>
      <p:bold r:id="rId18"/>
      <p:italic r:id="rId19"/>
      <p:boldItalic r:id="rId20"/>
    </p:embeddedFont>
    <p:embeddedFont>
      <p:font typeface="Afacad Flux SemiBold"/>
      <p:regular r:id="rId21"/>
      <p:bold r:id="rId22"/>
    </p:embeddedFont>
    <p:embeddedFont>
      <p:font typeface="Afacad Flux Black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22" Type="http://schemas.openxmlformats.org/officeDocument/2006/relationships/font" Target="fonts/AfacadFluxSemiBold-bold.fntdata"/><Relationship Id="rId21" Type="http://schemas.openxmlformats.org/officeDocument/2006/relationships/font" Target="fonts/AfacadFluxSemiBold-regular.fntdata"/><Relationship Id="rId23" Type="http://schemas.openxmlformats.org/officeDocument/2006/relationships/font" Target="fonts/AfacadFluxBla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facadFluxMedium-regular.fntdata"/><Relationship Id="rId12" Type="http://schemas.openxmlformats.org/officeDocument/2006/relationships/slide" Target="slides/slide7.xml"/><Relationship Id="rId15" Type="http://schemas.openxmlformats.org/officeDocument/2006/relationships/font" Target="fonts/AfacadFlux-regular.fntdata"/><Relationship Id="rId14" Type="http://schemas.openxmlformats.org/officeDocument/2006/relationships/font" Target="fonts/AfacadFluxMedium-bold.fntdata"/><Relationship Id="rId17" Type="http://schemas.openxmlformats.org/officeDocument/2006/relationships/font" Target="fonts/SourceCodePro-regular.fntdata"/><Relationship Id="rId16" Type="http://schemas.openxmlformats.org/officeDocument/2006/relationships/font" Target="fonts/AfacadFlux-bold.fntdata"/><Relationship Id="rId19" Type="http://schemas.openxmlformats.org/officeDocument/2006/relationships/font" Target="fonts/SourceCodePro-italic.fntdata"/><Relationship Id="rId18" Type="http://schemas.openxmlformats.org/officeDocument/2006/relationships/font" Target="fonts/SourceCode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8724dc5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8724d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8724dc5b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8724d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8724dc5b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8724dc5b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8724dc5b7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8724dc5b7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8724dc5b7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8724dc5b7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f5d7e317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cf5d7e317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8724dc5b7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8724dc5b7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dular display - Alt 1">
  <p:cSld name="BLANK_1_1_1_1_2_4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477525" y="3104450"/>
            <a:ext cx="3235800" cy="30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57200" y="151685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557200" y="2131638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557200" y="2746425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5" type="subTitle"/>
          </p:nvPr>
        </p:nvSpPr>
        <p:spPr>
          <a:xfrm>
            <a:off x="557200" y="3361213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6" type="subTitle"/>
          </p:nvPr>
        </p:nvSpPr>
        <p:spPr>
          <a:xfrm>
            <a:off x="557200" y="3976000"/>
            <a:ext cx="2506200" cy="3057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facad Flux SemiBold"/>
              <a:buNone/>
              <a:defRPr sz="19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8" name="Google Shape;18;p2"/>
          <p:cNvSpPr/>
          <p:nvPr>
            <p:ph idx="7" type="pic"/>
          </p:nvPr>
        </p:nvSpPr>
        <p:spPr>
          <a:xfrm>
            <a:off x="5309675" y="1115175"/>
            <a:ext cx="3575400" cy="1783200"/>
          </a:xfrm>
          <a:prstGeom prst="roundRect">
            <a:avLst>
              <a:gd fmla="val 1091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1_1_2_2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4852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>
            <a:off x="3232200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subTitle"/>
          </p:nvPr>
        </p:nvSpPr>
        <p:spPr>
          <a:xfrm>
            <a:off x="6215875" y="2296900"/>
            <a:ext cx="27735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ards">
  <p:cSld name="BLANK_1_1_1_1_2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2" type="pic"/>
          </p:nvPr>
        </p:nvSpPr>
        <p:spPr>
          <a:xfrm>
            <a:off x="3354313" y="1302575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3466363" y="2904025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3466375" y="3345698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" name="Google Shape;29;p4"/>
          <p:cNvSpPr/>
          <p:nvPr>
            <p:ph idx="4" type="pic"/>
          </p:nvPr>
        </p:nvSpPr>
        <p:spPr>
          <a:xfrm>
            <a:off x="4374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5494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6" type="body"/>
          </p:nvPr>
        </p:nvSpPr>
        <p:spPr>
          <a:xfrm>
            <a:off x="5494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7" type="pic"/>
          </p:nvPr>
        </p:nvSpPr>
        <p:spPr>
          <a:xfrm>
            <a:off x="6271213" y="1302563"/>
            <a:ext cx="2435400" cy="1356000"/>
          </a:xfrm>
          <a:prstGeom prst="roundRect">
            <a:avLst>
              <a:gd fmla="val 22916" name="adj"/>
            </a:avLst>
          </a:prstGeom>
          <a:noFill/>
          <a:ln>
            <a:noFill/>
          </a:ln>
        </p:spPr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6383263" y="2904013"/>
            <a:ext cx="2211300" cy="1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9" type="body"/>
          </p:nvPr>
        </p:nvSpPr>
        <p:spPr>
          <a:xfrm>
            <a:off x="6383275" y="3345685"/>
            <a:ext cx="22113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ainers">
  <p:cSld name="BLANK_1_1_1_1_2_1_1">
    <p:bg>
      <p:bgPr>
        <a:solidFill>
          <a:schemeClr val="accent4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37" name="Google Shape;37;p5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dk2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12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230838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4608238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6908075" y="2137575"/>
            <a:ext cx="2236200" cy="2542200"/>
          </a:xfrm>
          <a:prstGeom prst="rect">
            <a:avLst/>
          </a:prstGeom>
          <a:noFill/>
        </p:spPr>
        <p:txBody>
          <a:bodyPr anchorCtr="0" anchor="t" bIns="182875" lIns="182875" spcFirstLastPara="1" rIns="182875" wrap="square" tIns="0">
            <a:normAutofit/>
          </a:bodyPr>
          <a:lstStyle>
            <a:lvl1pPr indent="0" lvl="0" marL="228600" marR="88257"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1_1_1_1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228600" y="2063500"/>
            <a:ext cx="8333100" cy="265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4800">
                <a:latin typeface="Afacad Flux Medium"/>
                <a:ea typeface="Afacad Flux Medium"/>
                <a:cs typeface="Afacad Flux Medium"/>
                <a:sym typeface="Afacad Flux Medium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title"/>
          </p:nvPr>
        </p:nvSpPr>
        <p:spPr>
          <a:xfrm>
            <a:off x="7673150" y="394400"/>
            <a:ext cx="11937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 algn="ctr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  <a:defRPr sz="17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1">
  <p:cSld name="BLANK_1_1_1_1_1_1_2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 rot="-5400000">
            <a:off x="412762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7" name="Google Shape;47;p7"/>
          <p:cNvSpPr/>
          <p:nvPr/>
        </p:nvSpPr>
        <p:spPr>
          <a:xfrm rot="-5400000">
            <a:off x="551545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8" name="Google Shape;48;p7"/>
          <p:cNvSpPr/>
          <p:nvPr/>
        </p:nvSpPr>
        <p:spPr>
          <a:xfrm rot="-2220703">
            <a:off x="-226496" y="2528351"/>
            <a:ext cx="4023732" cy="1997707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7060250" y="0"/>
            <a:ext cx="2083800" cy="2086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0" name="Google Shape;50;p7"/>
          <p:cNvSpPr txBox="1"/>
          <p:nvPr>
            <p:ph type="title"/>
          </p:nvPr>
        </p:nvSpPr>
        <p:spPr>
          <a:xfrm>
            <a:off x="137160" y="228600"/>
            <a:ext cx="64803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1" name="Google Shape;51;p7"/>
          <p:cNvSpPr/>
          <p:nvPr/>
        </p:nvSpPr>
        <p:spPr>
          <a:xfrm rot="-5400000">
            <a:off x="2739800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52" name="Google Shape;52;p7"/>
          <p:cNvSpPr/>
          <p:nvPr/>
        </p:nvSpPr>
        <p:spPr>
          <a:xfrm rot="-5400000">
            <a:off x="6903275" y="2902800"/>
            <a:ext cx="3093600" cy="1387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ight cards">
  <p:cSld name="BLANK_1_1_1_1_1_1_2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subTitle"/>
          </p:nvPr>
        </p:nvSpPr>
        <p:spPr>
          <a:xfrm>
            <a:off x="4326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2" type="body"/>
          </p:nvPr>
        </p:nvSpPr>
        <p:spPr>
          <a:xfrm>
            <a:off x="4326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57" name="Google Shape;57;p8"/>
          <p:cNvSpPr txBox="1"/>
          <p:nvPr>
            <p:ph idx="3" type="subTitle"/>
          </p:nvPr>
        </p:nvSpPr>
        <p:spPr>
          <a:xfrm>
            <a:off x="438875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4" type="body"/>
          </p:nvPr>
        </p:nvSpPr>
        <p:spPr>
          <a:xfrm>
            <a:off x="438875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59" name="Google Shape;59;p8"/>
          <p:cNvSpPr txBox="1"/>
          <p:nvPr>
            <p:ph idx="5" type="subTitle"/>
          </p:nvPr>
        </p:nvSpPr>
        <p:spPr>
          <a:xfrm>
            <a:off x="2621613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6" type="body"/>
          </p:nvPr>
        </p:nvSpPr>
        <p:spPr>
          <a:xfrm>
            <a:off x="2621613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1" name="Google Shape;61;p8"/>
          <p:cNvSpPr txBox="1"/>
          <p:nvPr>
            <p:ph idx="7" type="subTitle"/>
          </p:nvPr>
        </p:nvSpPr>
        <p:spPr>
          <a:xfrm>
            <a:off x="262785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8" type="body"/>
          </p:nvPr>
        </p:nvSpPr>
        <p:spPr>
          <a:xfrm>
            <a:off x="262785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3" name="Google Shape;63;p8"/>
          <p:cNvSpPr txBox="1"/>
          <p:nvPr>
            <p:ph idx="9" type="subTitle"/>
          </p:nvPr>
        </p:nvSpPr>
        <p:spPr>
          <a:xfrm>
            <a:off x="4810588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3" type="body"/>
          </p:nvPr>
        </p:nvSpPr>
        <p:spPr>
          <a:xfrm>
            <a:off x="4810588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5" name="Google Shape;65;p8"/>
          <p:cNvSpPr txBox="1"/>
          <p:nvPr>
            <p:ph idx="14" type="subTitle"/>
          </p:nvPr>
        </p:nvSpPr>
        <p:spPr>
          <a:xfrm>
            <a:off x="48137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5" type="body"/>
          </p:nvPr>
        </p:nvSpPr>
        <p:spPr>
          <a:xfrm>
            <a:off x="48137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7" name="Google Shape;67;p8"/>
          <p:cNvSpPr txBox="1"/>
          <p:nvPr>
            <p:ph idx="16" type="subTitle"/>
          </p:nvPr>
        </p:nvSpPr>
        <p:spPr>
          <a:xfrm>
            <a:off x="6999550" y="160400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17" type="body"/>
          </p:nvPr>
        </p:nvSpPr>
        <p:spPr>
          <a:xfrm>
            <a:off x="6999550" y="181175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69" name="Google Shape;69;p8"/>
          <p:cNvSpPr txBox="1"/>
          <p:nvPr>
            <p:ph idx="18" type="subTitle"/>
          </p:nvPr>
        </p:nvSpPr>
        <p:spPr>
          <a:xfrm>
            <a:off x="7005800" y="3449150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facad Flux SemiBold"/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9" type="body"/>
          </p:nvPr>
        </p:nvSpPr>
        <p:spPr>
          <a:xfrm>
            <a:off x="7005800" y="3656900"/>
            <a:ext cx="1711800" cy="8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ith images">
  <p:cSld name="BLANK_1_1_1_1_1_1_2_1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/>
          <p:nvPr>
            <p:ph type="title"/>
          </p:nvPr>
        </p:nvSpPr>
        <p:spPr>
          <a:xfrm>
            <a:off x="137150" y="228600"/>
            <a:ext cx="6480300" cy="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0" sz="39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438875" y="327604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38875" y="365690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75" name="Google Shape;75;p9"/>
          <p:cNvSpPr txBox="1"/>
          <p:nvPr>
            <p:ph idx="3" type="subTitle"/>
          </p:nvPr>
        </p:nvSpPr>
        <p:spPr>
          <a:xfrm>
            <a:off x="26309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4" type="body"/>
          </p:nvPr>
        </p:nvSpPr>
        <p:spPr>
          <a:xfrm>
            <a:off x="26309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5" type="subTitle"/>
          </p:nvPr>
        </p:nvSpPr>
        <p:spPr>
          <a:xfrm>
            <a:off x="4821925" y="3269293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6" type="body"/>
          </p:nvPr>
        </p:nvSpPr>
        <p:spPr>
          <a:xfrm>
            <a:off x="4821925" y="3650150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7" type="subTitle"/>
          </p:nvPr>
        </p:nvSpPr>
        <p:spPr>
          <a:xfrm>
            <a:off x="7015175" y="1803668"/>
            <a:ext cx="1711800" cy="16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8" type="body"/>
          </p:nvPr>
        </p:nvSpPr>
        <p:spPr>
          <a:xfrm>
            <a:off x="7015175" y="2184525"/>
            <a:ext cx="1711800" cy="6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/>
          <p:nvPr>
            <p:ph idx="9" type="pic"/>
          </p:nvPr>
        </p:nvSpPr>
        <p:spPr>
          <a:xfrm>
            <a:off x="46189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82" name="Google Shape;82;p9"/>
          <p:cNvSpPr/>
          <p:nvPr>
            <p:ph idx="13" type="pic"/>
          </p:nvPr>
        </p:nvSpPr>
        <p:spPr>
          <a:xfrm>
            <a:off x="243750" y="1116450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83" name="Google Shape;83;p9"/>
          <p:cNvSpPr/>
          <p:nvPr>
            <p:ph idx="14" type="pic"/>
          </p:nvPr>
        </p:nvSpPr>
        <p:spPr>
          <a:xfrm>
            <a:off x="2423725" y="3336138"/>
            <a:ext cx="20856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84" name="Google Shape;84;p9"/>
          <p:cNvSpPr/>
          <p:nvPr>
            <p:ph idx="15" type="pic"/>
          </p:nvPr>
        </p:nvSpPr>
        <p:spPr>
          <a:xfrm>
            <a:off x="6802800" y="3336150"/>
            <a:ext cx="1984200" cy="13533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704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ubbles">
  <p:cSld name="BLANK_1_1_1_1_1_1_1_1_1_2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" type="subTitle"/>
          </p:nvPr>
        </p:nvSpPr>
        <p:spPr>
          <a:xfrm>
            <a:off x="33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2" type="subTitle"/>
          </p:nvPr>
        </p:nvSpPr>
        <p:spPr>
          <a:xfrm>
            <a:off x="2967150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3" type="subTitle"/>
          </p:nvPr>
        </p:nvSpPr>
        <p:spPr>
          <a:xfrm>
            <a:off x="5836575" y="79510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4" type="subTitle"/>
          </p:nvPr>
        </p:nvSpPr>
        <p:spPr>
          <a:xfrm>
            <a:off x="36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5" type="subTitle"/>
          </p:nvPr>
        </p:nvSpPr>
        <p:spPr>
          <a:xfrm>
            <a:off x="2967375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6" type="subTitle"/>
          </p:nvPr>
        </p:nvSpPr>
        <p:spPr>
          <a:xfrm>
            <a:off x="5836800" y="22736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7" type="subTitle"/>
          </p:nvPr>
        </p:nvSpPr>
        <p:spPr>
          <a:xfrm>
            <a:off x="36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3" name="Google Shape;93;p10"/>
          <p:cNvSpPr txBox="1"/>
          <p:nvPr>
            <p:ph idx="8" type="subTitle"/>
          </p:nvPr>
        </p:nvSpPr>
        <p:spPr>
          <a:xfrm>
            <a:off x="2967375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9" type="subTitle"/>
          </p:nvPr>
        </p:nvSpPr>
        <p:spPr>
          <a:xfrm>
            <a:off x="5836800" y="3766050"/>
            <a:ext cx="3303600" cy="4527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ALT 1">
  <p:cSld name="CUSTOM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>
            <a:off x="4541200" y="3027628"/>
            <a:ext cx="2261700" cy="1292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2" type="subTitle"/>
          </p:nvPr>
        </p:nvSpPr>
        <p:spPr>
          <a:xfrm>
            <a:off x="4461225" y="2399875"/>
            <a:ext cx="2199900" cy="51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3" type="body"/>
          </p:nvPr>
        </p:nvSpPr>
        <p:spPr>
          <a:xfrm>
            <a:off x="529800" y="3788256"/>
            <a:ext cx="3230400" cy="895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4" type="subTitle"/>
          </p:nvPr>
        </p:nvSpPr>
        <p:spPr>
          <a:xfrm>
            <a:off x="529800" y="3340283"/>
            <a:ext cx="3153000" cy="290100"/>
          </a:xfrm>
          <a:prstGeom prst="rect">
            <a:avLst/>
          </a:prstGeom>
        </p:spPr>
        <p:txBody>
          <a:bodyPr anchorCtr="0" anchor="ctr" bIns="91425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facad Flux SemiBold"/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1" name="Google Shape;101;p11"/>
          <p:cNvSpPr/>
          <p:nvPr>
            <p:ph idx="5" type="pic"/>
          </p:nvPr>
        </p:nvSpPr>
        <p:spPr>
          <a:xfrm>
            <a:off x="246888" y="1112076"/>
            <a:ext cx="3819900" cy="1802100"/>
          </a:xfrm>
          <a:prstGeom prst="roundRect">
            <a:avLst>
              <a:gd fmla="val 19372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02" name="Google Shape;102;p11"/>
          <p:cNvSpPr/>
          <p:nvPr>
            <p:ph idx="6" type="pic"/>
          </p:nvPr>
        </p:nvSpPr>
        <p:spPr>
          <a:xfrm>
            <a:off x="7184100" y="1112075"/>
            <a:ext cx="1731300" cy="3571800"/>
          </a:xfrm>
          <a:prstGeom prst="roundRect">
            <a:avLst>
              <a:gd fmla="val 18739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08">
          <p15:clr>
            <a:srgbClr val="E46962"/>
          </p15:clr>
        </p15:guide>
        <p15:guide id="2" pos="334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_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oundRect">
            <a:avLst>
              <a:gd fmla="val 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ALT 3">
  <p:cSld name="BLANK_1_1_1_1_1_1_1_1_1_1_1_1_1_1_1_1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137160" y="228600"/>
            <a:ext cx="64803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07" name="Google Shape;107;p13"/>
          <p:cNvSpPr/>
          <p:nvPr>
            <p:ph idx="2" type="pic"/>
          </p:nvPr>
        </p:nvSpPr>
        <p:spPr>
          <a:xfrm>
            <a:off x="228700" y="1186575"/>
            <a:ext cx="1655100" cy="1659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08" name="Google Shape;108;p13"/>
          <p:cNvSpPr/>
          <p:nvPr>
            <p:ph idx="3" type="pic"/>
          </p:nvPr>
        </p:nvSpPr>
        <p:spPr>
          <a:xfrm>
            <a:off x="228600" y="3022029"/>
            <a:ext cx="1655100" cy="16596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09" name="Google Shape;109;p13"/>
          <p:cNvSpPr/>
          <p:nvPr>
            <p:ph idx="4" type="pic"/>
          </p:nvPr>
        </p:nvSpPr>
        <p:spPr>
          <a:xfrm>
            <a:off x="20404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10" name="Google Shape;110;p13"/>
          <p:cNvSpPr/>
          <p:nvPr>
            <p:ph idx="5" type="pic"/>
          </p:nvPr>
        </p:nvSpPr>
        <p:spPr>
          <a:xfrm>
            <a:off x="3759350" y="1186575"/>
            <a:ext cx="3437100" cy="34950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11" name="Google Shape;111;p13"/>
          <p:cNvSpPr/>
          <p:nvPr>
            <p:ph idx="6" type="pic"/>
          </p:nvPr>
        </p:nvSpPr>
        <p:spPr>
          <a:xfrm>
            <a:off x="7347000" y="1186575"/>
            <a:ext cx="1568400" cy="34950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ALT 2">
  <p:cSld name="CUSTOM_7_1_1_1_1_1_1_1_1_1_1_1_1_1_1_1_1_3_2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246925" y="2825125"/>
            <a:ext cx="3776100" cy="18585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15" name="Google Shape;115;p14"/>
          <p:cNvSpPr txBox="1"/>
          <p:nvPr>
            <p:ph idx="2" type="title"/>
          </p:nvPr>
        </p:nvSpPr>
        <p:spPr>
          <a:xfrm>
            <a:off x="246925" y="2400600"/>
            <a:ext cx="13560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3" type="title"/>
          </p:nvPr>
        </p:nvSpPr>
        <p:spPr>
          <a:xfrm>
            <a:off x="1637425" y="2400600"/>
            <a:ext cx="10539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  <a:defRPr sz="12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17" name="Google Shape;117;p14"/>
          <p:cNvSpPr/>
          <p:nvPr>
            <p:ph idx="4" type="pic"/>
          </p:nvPr>
        </p:nvSpPr>
        <p:spPr>
          <a:xfrm>
            <a:off x="4618950" y="457200"/>
            <a:ext cx="4296600" cy="4226400"/>
          </a:xfrm>
          <a:prstGeom prst="roundRect">
            <a:avLst>
              <a:gd fmla="val 12203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CUSTOM_7_1_1_1_1_1_1_1_1_1_1_1_1_1_1_1_1_3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>
            <p:ph type="title"/>
          </p:nvPr>
        </p:nvSpPr>
        <p:spPr>
          <a:xfrm>
            <a:off x="137154" y="228600"/>
            <a:ext cx="3682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1" type="body"/>
          </p:nvPr>
        </p:nvSpPr>
        <p:spPr>
          <a:xfrm>
            <a:off x="228600" y="2363125"/>
            <a:ext cx="3388200" cy="232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21" name="Google Shape;121;p15"/>
          <p:cNvSpPr/>
          <p:nvPr>
            <p:ph idx="2" type="pic"/>
          </p:nvPr>
        </p:nvSpPr>
        <p:spPr>
          <a:xfrm rot="10800000">
            <a:off x="4290750" y="0"/>
            <a:ext cx="2304300" cy="3443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22" name="Google Shape;122;p15"/>
          <p:cNvSpPr/>
          <p:nvPr>
            <p:ph idx="3" type="pic"/>
          </p:nvPr>
        </p:nvSpPr>
        <p:spPr>
          <a:xfrm>
            <a:off x="6601200" y="0"/>
            <a:ext cx="2308200" cy="51435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ALT 1">
  <p:cSld name="CUSTOM_7_1_1_1_1_1_1_1_1_1_1_1_1_1_1_1_1_1_1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  <p:sp>
        <p:nvSpPr>
          <p:cNvPr id="126" name="Google Shape;126;p16"/>
          <p:cNvSpPr/>
          <p:nvPr/>
        </p:nvSpPr>
        <p:spPr>
          <a:xfrm>
            <a:off x="7643450" y="394401"/>
            <a:ext cx="1253100" cy="316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27" name="Google Shape;127;p16"/>
          <p:cNvSpPr txBox="1"/>
          <p:nvPr>
            <p:ph idx="1" type="subTitle"/>
          </p:nvPr>
        </p:nvSpPr>
        <p:spPr>
          <a:xfrm>
            <a:off x="7730000" y="407600"/>
            <a:ext cx="1080000" cy="29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3" type="subTitle"/>
          </p:nvPr>
        </p:nvSpPr>
        <p:spPr>
          <a:xfrm>
            <a:off x="-1040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4" type="subTitle"/>
          </p:nvPr>
        </p:nvSpPr>
        <p:spPr>
          <a:xfrm>
            <a:off x="13819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5" type="subTitle"/>
          </p:nvPr>
        </p:nvSpPr>
        <p:spPr>
          <a:xfrm>
            <a:off x="3081175" y="4248500"/>
            <a:ext cx="1728000" cy="2901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facad Flux SemiBold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262950" y="1852175"/>
            <a:ext cx="2311800" cy="2827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14300" marR="199572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2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2663162" y="3512350"/>
            <a:ext cx="1600200" cy="11718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143375" y="226075"/>
            <a:ext cx="6471000" cy="12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900"/>
              <a:buFont typeface="Afacad Flux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/>
          <p:nvPr/>
        </p:nvSpPr>
        <p:spPr>
          <a:xfrm flipH="1">
            <a:off x="2663150" y="1852175"/>
            <a:ext cx="1600200" cy="1600200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262950" y="1852175"/>
            <a:ext cx="2311800" cy="2840400"/>
          </a:xfrm>
          <a:prstGeom prst="rect">
            <a:avLst/>
          </a:prstGeom>
        </p:spPr>
        <p:txBody>
          <a:bodyPr anchorCtr="0" anchor="t" bIns="274300" lIns="182875" spcFirstLastPara="1" rIns="182875" wrap="square" tIns="36575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/>
            </a:lvl9pPr>
          </a:lstStyle>
          <a:p/>
        </p:txBody>
      </p:sp>
      <p:sp>
        <p:nvSpPr>
          <p:cNvPr id="137" name="Google Shape;137;p17"/>
          <p:cNvSpPr/>
          <p:nvPr>
            <p:ph idx="2" type="pic"/>
          </p:nvPr>
        </p:nvSpPr>
        <p:spPr>
          <a:xfrm>
            <a:off x="4424075" y="1895400"/>
            <a:ext cx="4491600" cy="2788200"/>
          </a:xfrm>
          <a:prstGeom prst="roundRect">
            <a:avLst>
              <a:gd fmla="val 15847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vorite tools">
  <p:cSld name="CUSTOM_4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137153" y="228600"/>
            <a:ext cx="4387800" cy="15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4818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1" name="Google Shape;141;p18"/>
          <p:cNvSpPr txBox="1"/>
          <p:nvPr>
            <p:ph idx="2" type="subTitle"/>
          </p:nvPr>
        </p:nvSpPr>
        <p:spPr>
          <a:xfrm>
            <a:off x="4818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3" type="body"/>
          </p:nvPr>
        </p:nvSpPr>
        <p:spPr>
          <a:xfrm>
            <a:off x="4872175" y="1334475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3" name="Google Shape;143;p18"/>
          <p:cNvSpPr txBox="1"/>
          <p:nvPr>
            <p:ph idx="4" type="subTitle"/>
          </p:nvPr>
        </p:nvSpPr>
        <p:spPr>
          <a:xfrm>
            <a:off x="4872175" y="792100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4" name="Google Shape;144;p18"/>
          <p:cNvSpPr txBox="1"/>
          <p:nvPr>
            <p:ph idx="5" type="body"/>
          </p:nvPr>
        </p:nvSpPr>
        <p:spPr>
          <a:xfrm>
            <a:off x="7067425" y="3510500"/>
            <a:ext cx="1652700" cy="895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45" name="Google Shape;145;p18"/>
          <p:cNvSpPr txBox="1"/>
          <p:nvPr>
            <p:ph idx="6" type="subTitle"/>
          </p:nvPr>
        </p:nvSpPr>
        <p:spPr>
          <a:xfrm>
            <a:off x="7067425" y="2968125"/>
            <a:ext cx="1652700" cy="4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46" name="Google Shape;146;p18"/>
          <p:cNvSpPr/>
          <p:nvPr>
            <p:ph idx="7" type="pic"/>
          </p:nvPr>
        </p:nvSpPr>
        <p:spPr>
          <a:xfrm>
            <a:off x="6806650" y="457200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47" name="Google Shape;147;p18"/>
          <p:cNvSpPr/>
          <p:nvPr>
            <p:ph idx="8" type="pic"/>
          </p:nvPr>
        </p:nvSpPr>
        <p:spPr>
          <a:xfrm flipH="1">
            <a:off x="2424900" y="2628875"/>
            <a:ext cx="2093700" cy="20592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 fact">
  <p:cSld name="CUSTOM_5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>
            <p:ph idx="2" type="pic"/>
          </p:nvPr>
        </p:nvSpPr>
        <p:spPr>
          <a:xfrm>
            <a:off x="3163800" y="3246950"/>
            <a:ext cx="2816400" cy="14367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0" name="Google Shape;150;p19"/>
          <p:cNvSpPr txBox="1"/>
          <p:nvPr>
            <p:ph type="title"/>
          </p:nvPr>
        </p:nvSpPr>
        <p:spPr>
          <a:xfrm>
            <a:off x="137150" y="228600"/>
            <a:ext cx="58521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9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1" type="body"/>
          </p:nvPr>
        </p:nvSpPr>
        <p:spPr>
          <a:xfrm>
            <a:off x="54947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2" name="Google Shape;152;p19"/>
          <p:cNvSpPr txBox="1"/>
          <p:nvPr>
            <p:ph idx="3" type="body"/>
          </p:nvPr>
        </p:nvSpPr>
        <p:spPr>
          <a:xfrm>
            <a:off x="3466350" y="173405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facad Flux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4" type="body"/>
          </p:nvPr>
        </p:nvSpPr>
        <p:spPr>
          <a:xfrm>
            <a:off x="6383225" y="3350701"/>
            <a:ext cx="2211300" cy="12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facad Flux"/>
              <a:buChar char="■"/>
              <a:defRPr sz="1000"/>
            </a:lvl9pPr>
          </a:lstStyle>
          <a:p/>
        </p:txBody>
      </p:sp>
      <p:sp>
        <p:nvSpPr>
          <p:cNvPr id="154" name="Google Shape;154;p19"/>
          <p:cNvSpPr txBox="1"/>
          <p:nvPr>
            <p:ph idx="5" type="subTitle"/>
          </p:nvPr>
        </p:nvSpPr>
        <p:spPr>
          <a:xfrm>
            <a:off x="555175" y="298680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6" type="subTitle"/>
          </p:nvPr>
        </p:nvSpPr>
        <p:spPr>
          <a:xfrm>
            <a:off x="3473338" y="1372065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facad Flux SemiBold"/>
              <a:buNone/>
              <a:defRPr sz="1400">
                <a:solidFill>
                  <a:schemeClr val="dk2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7" type="subTitle"/>
          </p:nvPr>
        </p:nvSpPr>
        <p:spPr>
          <a:xfrm>
            <a:off x="6391513" y="2989840"/>
            <a:ext cx="2211300" cy="25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facad Flux SemiBold"/>
              <a:buNone/>
              <a:defRPr sz="1400">
                <a:latin typeface="Afacad Flux SemiBold"/>
                <a:ea typeface="Afacad Flux SemiBold"/>
                <a:cs typeface="Afacad Flux SemiBold"/>
                <a:sym typeface="Afacad Flux SemiBold"/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8" type="pic"/>
          </p:nvPr>
        </p:nvSpPr>
        <p:spPr>
          <a:xfrm>
            <a:off x="2286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  <p:sp>
        <p:nvSpPr>
          <p:cNvPr id="158" name="Google Shape;158;p19"/>
          <p:cNvSpPr/>
          <p:nvPr>
            <p:ph idx="9" type="pic"/>
          </p:nvPr>
        </p:nvSpPr>
        <p:spPr>
          <a:xfrm>
            <a:off x="6099000" y="1111975"/>
            <a:ext cx="2816400" cy="14928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accent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 flipH="1" rot="10800000">
            <a:off x="225325" y="225450"/>
            <a:ext cx="6483000" cy="3256800"/>
          </a:xfrm>
          <a:prstGeom prst="round1Rect">
            <a:avLst>
              <a:gd fmla="val 1638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61" name="Google Shape;161;p20"/>
          <p:cNvSpPr/>
          <p:nvPr/>
        </p:nvSpPr>
        <p:spPr>
          <a:xfrm flipH="1">
            <a:off x="5600700" y="3575950"/>
            <a:ext cx="1108200" cy="1108200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802800" y="228600"/>
            <a:ext cx="2112600" cy="4455600"/>
          </a:xfrm>
          <a:prstGeom prst="roundRect">
            <a:avLst>
              <a:gd fmla="val 3286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163" name="Google Shape;163;p20"/>
          <p:cNvSpPr txBox="1"/>
          <p:nvPr>
            <p:ph type="title"/>
          </p:nvPr>
        </p:nvSpPr>
        <p:spPr>
          <a:xfrm>
            <a:off x="462225" y="493150"/>
            <a:ext cx="5944800" cy="15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4" name="Google Shape;164;p20"/>
          <p:cNvSpPr txBox="1"/>
          <p:nvPr>
            <p:ph idx="1" type="subTitle"/>
          </p:nvPr>
        </p:nvSpPr>
        <p:spPr>
          <a:xfrm>
            <a:off x="467375" y="2472638"/>
            <a:ext cx="5557200" cy="668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facad Flux"/>
              <a:buNone/>
              <a:defRPr>
                <a:solidFill>
                  <a:schemeClr val="dk2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CUSTOM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untain range reflected on a river. " id="166" name="Google Shape;166;p21"/>
          <p:cNvPicPr preferRelativeResize="0"/>
          <p:nvPr/>
        </p:nvPicPr>
        <p:blipFill rotWithShape="1">
          <a:blip r:embed="rId2">
            <a:alphaModFix/>
          </a:blip>
          <a:srcRect b="0" l="259" r="259" t="0"/>
          <a:stretch/>
        </p:blipFill>
        <p:spPr>
          <a:xfrm>
            <a:off x="1327205" y="0"/>
            <a:ext cx="780288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21"/>
          <p:cNvGrpSpPr/>
          <p:nvPr/>
        </p:nvGrpSpPr>
        <p:grpSpPr>
          <a:xfrm>
            <a:off x="-13905" y="-1783804"/>
            <a:ext cx="10953439" cy="6927293"/>
            <a:chOff x="0" y="-1705500"/>
            <a:chExt cx="10871900" cy="6852600"/>
          </a:xfrm>
        </p:grpSpPr>
        <p:sp>
          <p:nvSpPr>
            <p:cNvPr id="168" name="Google Shape;168;p21"/>
            <p:cNvSpPr/>
            <p:nvPr/>
          </p:nvSpPr>
          <p:spPr>
            <a:xfrm>
              <a:off x="0" y="0"/>
              <a:ext cx="57429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69" name="Google Shape;169;p21"/>
            <p:cNvSpPr/>
            <p:nvPr/>
          </p:nvSpPr>
          <p:spPr>
            <a:xfrm rot="5400000">
              <a:off x="7437975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 rot="5400000">
              <a:off x="7430300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 flipH="1" rot="-5400000">
              <a:off x="4020200" y="-1705200"/>
              <a:ext cx="3410700" cy="3410100"/>
            </a:xfrm>
            <a:prstGeom prst="pie">
              <a:avLst>
                <a:gd fmla="val 21598135" name="adj1"/>
                <a:gd fmla="val 5402975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  <p:sp>
          <p:nvSpPr>
            <p:cNvPr id="172" name="Google Shape;172;p21"/>
            <p:cNvSpPr/>
            <p:nvPr/>
          </p:nvSpPr>
          <p:spPr>
            <a:xfrm flipH="1" rot="-5400000">
              <a:off x="3996675" y="1705500"/>
              <a:ext cx="3441900" cy="3441300"/>
            </a:xfrm>
            <a:prstGeom prst="pie">
              <a:avLst>
                <a:gd fmla="val 0" name="adj1"/>
                <a:gd fmla="val 10786701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facad Flux"/>
                <a:ea typeface="Afacad Flux"/>
                <a:cs typeface="Afacad Flux"/>
                <a:sym typeface="Afacad Flux"/>
              </a:endParaRPr>
            </a:p>
          </p:txBody>
        </p:sp>
      </p:grpSp>
      <p:sp>
        <p:nvSpPr>
          <p:cNvPr id="173" name="Google Shape;173;p21"/>
          <p:cNvSpPr txBox="1"/>
          <p:nvPr>
            <p:ph type="title"/>
          </p:nvPr>
        </p:nvSpPr>
        <p:spPr>
          <a:xfrm>
            <a:off x="228600" y="251551"/>
            <a:ext cx="6665700" cy="26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8000">
                <a:latin typeface="Afacad Flux Medium"/>
                <a:ea typeface="Afacad Flux Medium"/>
                <a:cs typeface="Afacad Flux Medium"/>
                <a:sym typeface="Afacad Flux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6" name="Google Shape;17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5" name="Google Shape;195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6" name="Google Shape;196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6" name="Google Shape;206;p3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7" name="Google Shape;207;p3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8" name="Google Shape;208;p3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9" name="Google Shape;209;p3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0" name="Google Shape;210;p3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4" name="Google Shape;21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" name="Google Shape;21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" name="Google Shape;21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0" name="Google Shape;22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5" name="Google Shape;22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6" name="Google Shape;22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7" name="Google Shape;22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2" name="Google Shape;23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3" name="Google Shape;23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5" name="Google Shape;23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6" name="Google Shape;23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7" name="Google Shape;23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8" name="Google Shape;23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9" name="Google Shape;24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2" name="Google Shape;25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5" name="Google Shape;25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7" name="Google Shape;25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9" name="Google Shape;25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60" name="Google Shape;26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4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4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4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01500"/>
            <a:ext cx="5760600" cy="3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8434809" y="46307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‹#›</a:t>
            </a:fld>
            <a:endParaRPr sz="7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95550" y="457200"/>
            <a:ext cx="48594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facad Flux"/>
              <a:buNone/>
              <a:defRPr b="1" sz="30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2" type="body"/>
          </p:nvPr>
        </p:nvSpPr>
        <p:spPr>
          <a:xfrm>
            <a:off x="3785175" y="1949425"/>
            <a:ext cx="4057800" cy="20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●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○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facad Flux"/>
              <a:buChar char="■"/>
              <a:defRPr sz="12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/>
          <p:nvPr/>
        </p:nvSpPr>
        <p:spPr>
          <a:xfrm>
            <a:off x="7643450" y="394401"/>
            <a:ext cx="1253100" cy="316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CSA0715</a:t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77" name="Google Shape;277;p42"/>
          <p:cNvSpPr txBox="1"/>
          <p:nvPr>
            <p:ph type="title"/>
          </p:nvPr>
        </p:nvSpPr>
        <p:spPr>
          <a:xfrm>
            <a:off x="289050" y="1002150"/>
            <a:ext cx="8626500" cy="159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latin typeface="Afacad Flux Black"/>
                <a:ea typeface="Afacad Flux Black"/>
                <a:cs typeface="Afacad Flux Black"/>
                <a:sym typeface="Afacad Flux Black"/>
              </a:rPr>
              <a:t>Machine Learning-Based Error Detection in Networks</a:t>
            </a:r>
            <a:r>
              <a:rPr b="0" lang="en" sz="2900">
                <a:latin typeface="Afacad Flux Black"/>
                <a:ea typeface="Afacad Flux Black"/>
                <a:cs typeface="Afacad Flux Black"/>
                <a:sym typeface="Afacad Flux Black"/>
              </a:rPr>
              <a:t> </a:t>
            </a:r>
            <a:endParaRPr b="0" sz="9800">
              <a:latin typeface="Afacad Flux Black"/>
              <a:ea typeface="Afacad Flux Black"/>
              <a:cs typeface="Afacad Flux Black"/>
              <a:sym typeface="Afacad Flux Black"/>
            </a:endParaRPr>
          </a:p>
        </p:txBody>
      </p:sp>
      <p:sp>
        <p:nvSpPr>
          <p:cNvPr id="278" name="Google Shape;278;p42"/>
          <p:cNvSpPr/>
          <p:nvPr/>
        </p:nvSpPr>
        <p:spPr>
          <a:xfrm>
            <a:off x="3063300" y="3583175"/>
            <a:ext cx="3017400" cy="4665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facad Flux"/>
              <a:ea typeface="Afacad Flux"/>
              <a:cs typeface="Afacad Flux"/>
              <a:sym typeface="Afacad Flux"/>
            </a:endParaRPr>
          </a:p>
        </p:txBody>
      </p:sp>
      <p:sp>
        <p:nvSpPr>
          <p:cNvPr id="279" name="Google Shape;279;p42"/>
          <p:cNvSpPr txBox="1"/>
          <p:nvPr/>
        </p:nvSpPr>
        <p:spPr>
          <a:xfrm>
            <a:off x="3263400" y="3658175"/>
            <a:ext cx="2617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V.T.S.CHANIKYA</a:t>
            </a:r>
            <a:endParaRPr b="1" sz="1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/>
        </p:nvSpPr>
        <p:spPr>
          <a:xfrm>
            <a:off x="0" y="298075"/>
            <a:ext cx="9144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INTRODUCTION</a:t>
            </a:r>
            <a:endParaRPr sz="55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85" name="Google Shape;285;p43"/>
          <p:cNvSpPr/>
          <p:nvPr/>
        </p:nvSpPr>
        <p:spPr>
          <a:xfrm>
            <a:off x="7643450" y="394401"/>
            <a:ext cx="1253100" cy="316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9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DSA0227</a:t>
            </a:r>
            <a:endParaRPr sz="9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86" name="Google Shape;286;p43"/>
          <p:cNvSpPr txBox="1"/>
          <p:nvPr/>
        </p:nvSpPr>
        <p:spPr>
          <a:xfrm>
            <a:off x="484350" y="1616400"/>
            <a:ext cx="8081400" cy="3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What is Network Error Detection?</a:t>
            </a:r>
            <a:endParaRPr b="1" sz="18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Identifies faults and abnormal network behavior.</a:t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Ensures reliable and secure communication.</a:t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Traditional methods use fixed rules.</a:t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Machine Learning (ML) detects errors automatically by learning from network data.</a:t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Why Use Machine Learning?</a:t>
            </a:r>
            <a:endParaRPr b="1" sz="18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Detects unknown and complex errors.</a:t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Reduces manual monitoring.</a:t>
            </a:r>
            <a:endParaRPr sz="16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Medium"/>
              <a:buChar char="●"/>
            </a:pPr>
            <a:r>
              <a:rPr lang="en" sz="16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Improves network performance and security.</a:t>
            </a:r>
            <a:endParaRPr sz="30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311125" y="1174800"/>
            <a:ext cx="4426800" cy="30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2500"/>
              <a:t>Working Process</a:t>
            </a:r>
            <a:endParaRPr sz="25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Afacad Flux Medium"/>
              <a:buAutoNum type="arabicPeriod"/>
            </a:pPr>
            <a:r>
              <a:rPr b="0" lang="en" sz="2100">
                <a:latin typeface="Afacad Flux Medium"/>
                <a:ea typeface="Afacad Flux Medium"/>
                <a:cs typeface="Afacad Flux Medium"/>
                <a:sym typeface="Afacad Flux Medium"/>
              </a:rPr>
              <a:t>Collect network traffic data.</a:t>
            </a:r>
            <a:endParaRPr b="0" sz="21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facad Flux Medium"/>
              <a:buAutoNum type="arabicPeriod"/>
            </a:pPr>
            <a:r>
              <a:rPr b="0" lang="en" sz="2100">
                <a:latin typeface="Afacad Flux Medium"/>
                <a:ea typeface="Afacad Flux Medium"/>
                <a:cs typeface="Afacad Flux Medium"/>
                <a:sym typeface="Afacad Flux Medium"/>
              </a:rPr>
              <a:t>Extract important features (packet loss, delay, bandwidth, etc.).</a:t>
            </a:r>
            <a:endParaRPr b="0" sz="21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facad Flux Medium"/>
              <a:buAutoNum type="arabicPeriod"/>
            </a:pPr>
            <a:r>
              <a:rPr b="0" lang="en" sz="2100">
                <a:latin typeface="Afacad Flux Medium"/>
                <a:ea typeface="Afacad Flux Medium"/>
                <a:cs typeface="Afacad Flux Medium"/>
                <a:sym typeface="Afacad Flux Medium"/>
              </a:rPr>
              <a:t>Train an ML model.</a:t>
            </a:r>
            <a:endParaRPr b="0" sz="21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facad Flux Medium"/>
              <a:buAutoNum type="arabicPeriod"/>
            </a:pPr>
            <a:r>
              <a:rPr b="0" lang="en" sz="2100">
                <a:latin typeface="Afacad Flux Medium"/>
                <a:ea typeface="Afacad Flux Medium"/>
                <a:cs typeface="Afacad Flux Medium"/>
                <a:sym typeface="Afacad Flux Medium"/>
              </a:rPr>
              <a:t>Detect abnormal network behavior.</a:t>
            </a:r>
            <a:endParaRPr b="0" sz="21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facad Flux Medium"/>
              <a:buAutoNum type="arabicPeriod"/>
            </a:pPr>
            <a:r>
              <a:rPr b="0" lang="en" sz="2100">
                <a:latin typeface="Afacad Flux Medium"/>
                <a:ea typeface="Afacad Flux Medium"/>
                <a:cs typeface="Afacad Flux Medium"/>
                <a:sym typeface="Afacad Flux Medium"/>
              </a:rPr>
              <a:t>Generate alerts for administrators.</a:t>
            </a:r>
            <a:endParaRPr b="0" sz="36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292" name="Google Shape;292;p44"/>
          <p:cNvSpPr txBox="1"/>
          <p:nvPr/>
        </p:nvSpPr>
        <p:spPr>
          <a:xfrm>
            <a:off x="228600" y="168425"/>
            <a:ext cx="859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Afacad Flux Black"/>
                <a:ea typeface="Afacad Flux Black"/>
                <a:cs typeface="Afacad Flux Black"/>
                <a:sym typeface="Afacad Flux Black"/>
              </a:rPr>
              <a:t> Importance of Leadership for Students</a:t>
            </a:r>
            <a:endParaRPr sz="4000">
              <a:latin typeface="Afacad Flux Black"/>
              <a:ea typeface="Afacad Flux Black"/>
              <a:cs typeface="Afacad Flux Black"/>
              <a:sym typeface="Afacad Flux Black"/>
            </a:endParaRPr>
          </a:p>
        </p:txBody>
      </p:sp>
      <p:sp>
        <p:nvSpPr>
          <p:cNvPr id="293" name="Google Shape;293;p44"/>
          <p:cNvSpPr txBox="1"/>
          <p:nvPr/>
        </p:nvSpPr>
        <p:spPr>
          <a:xfrm>
            <a:off x="5501750" y="1234350"/>
            <a:ext cx="3325200" cy="26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Common ML Algorithms</a:t>
            </a:r>
            <a:endParaRPr b="1" sz="25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facad Flux Medium"/>
              <a:buChar char="●"/>
            </a:pPr>
            <a:r>
              <a:rPr lang="en" sz="22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Decision Tree</a:t>
            </a:r>
            <a:endParaRPr sz="22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facad Flux Medium"/>
              <a:buChar char="●"/>
            </a:pPr>
            <a:r>
              <a:rPr lang="en" sz="22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Random Forest</a:t>
            </a:r>
            <a:endParaRPr sz="22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facad Flux Medium"/>
              <a:buChar char="●"/>
            </a:pPr>
            <a:r>
              <a:rPr lang="en" sz="22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Support Vector Machine (SVM)</a:t>
            </a:r>
            <a:endParaRPr sz="22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facad Flux Medium"/>
              <a:buChar char="●"/>
            </a:pPr>
            <a:r>
              <a:rPr lang="en" sz="2200">
                <a:solidFill>
                  <a:schemeClr val="lt1"/>
                </a:solidFill>
                <a:latin typeface="Afacad Flux Medium"/>
                <a:ea typeface="Afacad Flux Medium"/>
                <a:cs typeface="Afacad Flux Medium"/>
                <a:sym typeface="Afacad Flux Medium"/>
              </a:rPr>
              <a:t>Neural Networks</a:t>
            </a:r>
            <a:endParaRPr sz="2200">
              <a:solidFill>
                <a:schemeClr val="lt1"/>
              </a:solidFill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Advantages and Applications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Advantages:</a:t>
            </a:r>
            <a:endParaRPr b="1" sz="27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facad Flux Medium"/>
              <a:buChar char="●"/>
            </a:pPr>
            <a:r>
              <a:rPr lang="en" sz="2200">
                <a:latin typeface="Afacad Flux Medium"/>
                <a:ea typeface="Afacad Flux Medium"/>
                <a:cs typeface="Afacad Flux Medium"/>
                <a:sym typeface="Afacad Flux Medium"/>
              </a:rPr>
              <a:t>High detection accuracy.</a:t>
            </a:r>
            <a:endParaRPr sz="22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facad Flux Medium"/>
              <a:buChar char="●"/>
            </a:pPr>
            <a:r>
              <a:rPr lang="en" sz="2200">
                <a:latin typeface="Afacad Flux Medium"/>
                <a:ea typeface="Afacad Flux Medium"/>
                <a:cs typeface="Afacad Flux Medium"/>
                <a:sym typeface="Afacad Flux Medium"/>
              </a:rPr>
              <a:t>Faster than manual monitoring.</a:t>
            </a:r>
            <a:endParaRPr sz="22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facad Flux Medium"/>
              <a:buChar char="●"/>
            </a:pPr>
            <a:r>
              <a:rPr lang="en" sz="2200">
                <a:latin typeface="Afacad Flux Medium"/>
                <a:ea typeface="Afacad Flux Medium"/>
                <a:cs typeface="Afacad Flux Medium"/>
                <a:sym typeface="Afacad Flux Medium"/>
              </a:rPr>
              <a:t>Learns new attack patterns.</a:t>
            </a:r>
            <a:endParaRPr sz="22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facad Flux Medium"/>
              <a:buChar char="●"/>
            </a:pPr>
            <a:r>
              <a:rPr lang="en" sz="2200">
                <a:latin typeface="Afacad Flux Medium"/>
                <a:ea typeface="Afacad Flux Medium"/>
                <a:cs typeface="Afacad Flux Medium"/>
                <a:sym typeface="Afacad Flux Medium"/>
              </a:rPr>
              <a:t>Reduces false alarms.</a:t>
            </a:r>
            <a:endParaRPr sz="22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facad Flux Medium"/>
              <a:buChar char="●"/>
            </a:pPr>
            <a:r>
              <a:rPr lang="en" sz="2200">
                <a:latin typeface="Afacad Flux Medium"/>
                <a:ea typeface="Afacad Flux Medium"/>
                <a:cs typeface="Afacad Flux Medium"/>
                <a:sym typeface="Afacad Flux Medium"/>
              </a:rPr>
              <a:t>Supports real-time monitoring.</a:t>
            </a:r>
            <a:endParaRPr sz="22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Afacad Flux Medium"/>
                <a:ea typeface="Afacad Flux Medium"/>
                <a:cs typeface="Afacad Flux Medium"/>
                <a:sym typeface="Afacad Flux Medium"/>
              </a:rPr>
              <a:t> </a:t>
            </a:r>
            <a:endParaRPr sz="22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  <p:sp>
        <p:nvSpPr>
          <p:cNvPr id="300" name="Google Shape;300;p45"/>
          <p:cNvSpPr txBox="1"/>
          <p:nvPr>
            <p:ph idx="2" type="body"/>
          </p:nvPr>
        </p:nvSpPr>
        <p:spPr>
          <a:xfrm>
            <a:off x="4832400" y="1152475"/>
            <a:ext cx="3999900" cy="31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800"/>
              <a:t>Applications:</a:t>
            </a:r>
            <a:endParaRPr b="1" sz="28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Afacad Flux Medium"/>
              <a:buChar char="●"/>
            </a:pPr>
            <a:r>
              <a:rPr lang="en" sz="2000">
                <a:latin typeface="Afacad Flux Medium"/>
                <a:ea typeface="Afacad Flux Medium"/>
                <a:cs typeface="Afacad Flux Medium"/>
                <a:sym typeface="Afacad Flux Medium"/>
              </a:rPr>
              <a:t>Intrusion Detection Systems (IDS)</a:t>
            </a:r>
            <a:endParaRPr sz="20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facad Flux Medium"/>
              <a:buChar char="●"/>
            </a:pPr>
            <a:r>
              <a:rPr lang="en" sz="2000">
                <a:latin typeface="Afacad Flux Medium"/>
                <a:ea typeface="Afacad Flux Medium"/>
                <a:cs typeface="Afacad Flux Medium"/>
                <a:sym typeface="Afacad Flux Medium"/>
              </a:rPr>
              <a:t>Network Traffic Monitoring</a:t>
            </a:r>
            <a:endParaRPr sz="20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facad Flux Medium"/>
              <a:buChar char="●"/>
            </a:pPr>
            <a:r>
              <a:rPr lang="en" sz="2000">
                <a:latin typeface="Afacad Flux Medium"/>
                <a:ea typeface="Afacad Flux Medium"/>
                <a:cs typeface="Afacad Flux Medium"/>
                <a:sym typeface="Afacad Flux Medium"/>
              </a:rPr>
              <a:t>Fault Detection</a:t>
            </a:r>
            <a:endParaRPr sz="20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facad Flux Medium"/>
              <a:buChar char="●"/>
            </a:pPr>
            <a:r>
              <a:rPr lang="en" sz="2000">
                <a:latin typeface="Afacad Flux Medium"/>
                <a:ea typeface="Afacad Flux Medium"/>
                <a:cs typeface="Afacad Flux Medium"/>
                <a:sym typeface="Afacad Flux Medium"/>
              </a:rPr>
              <a:t>Cybersecurity</a:t>
            </a:r>
            <a:endParaRPr sz="20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facad Flux Medium"/>
              <a:buChar char="●"/>
            </a:pPr>
            <a:r>
              <a:rPr lang="en" sz="2000">
                <a:latin typeface="Afacad Flux Medium"/>
                <a:ea typeface="Afacad Flux Medium"/>
                <a:cs typeface="Afacad Flux Medium"/>
                <a:sym typeface="Afacad Flux Medium"/>
              </a:rPr>
              <a:t>Cloud Network Management</a:t>
            </a:r>
            <a:endParaRPr sz="20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 sz="23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idx="4294967295" type="title"/>
          </p:nvPr>
        </p:nvSpPr>
        <p:spPr>
          <a:xfrm>
            <a:off x="228600" y="251550"/>
            <a:ext cx="7820700" cy="92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</a:t>
            </a:r>
            <a:endParaRPr/>
          </a:p>
        </p:txBody>
      </p:sp>
      <p:sp>
        <p:nvSpPr>
          <p:cNvPr id="306" name="Google Shape;306;p46"/>
          <p:cNvSpPr txBox="1"/>
          <p:nvPr/>
        </p:nvSpPr>
        <p:spPr>
          <a:xfrm>
            <a:off x="638650" y="1251300"/>
            <a:ext cx="7310700" cy="3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facad Flux SemiBold"/>
              <a:buChar char="●"/>
            </a:pPr>
            <a:r>
              <a:rPr lang="en" sz="1700">
                <a:latin typeface="Afacad Flux SemiBold"/>
                <a:ea typeface="Afacad Flux SemiBold"/>
                <a:cs typeface="Afacad Flux SemiBold"/>
                <a:sym typeface="Afacad Flux SemiBold"/>
              </a:rPr>
              <a:t>Requires large datasets for training.</a:t>
            </a:r>
            <a:endParaRPr sz="1700"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facad Flux SemiBold"/>
              <a:buChar char="●"/>
            </a:pPr>
            <a:r>
              <a:rPr lang="en" sz="1700">
                <a:latin typeface="Afacad Flux SemiBold"/>
                <a:ea typeface="Afacad Flux SemiBold"/>
                <a:cs typeface="Afacad Flux SemiBold"/>
                <a:sym typeface="Afacad Flux SemiBold"/>
              </a:rPr>
              <a:t>High computational cost.</a:t>
            </a:r>
            <a:endParaRPr sz="1700"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facad Flux SemiBold"/>
              <a:buChar char="●"/>
            </a:pPr>
            <a:r>
              <a:rPr lang="en" sz="1700">
                <a:latin typeface="Afacad Flux SemiBold"/>
                <a:ea typeface="Afacad Flux SemiBold"/>
                <a:cs typeface="Afacad Flux SemiBold"/>
                <a:sym typeface="Afacad Flux SemiBold"/>
              </a:rPr>
              <a:t>False positives may occur.</a:t>
            </a:r>
            <a:endParaRPr sz="1700"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facad Flux SemiBold"/>
              <a:buChar char="●"/>
            </a:pPr>
            <a:r>
              <a:rPr lang="en" sz="1700">
                <a:latin typeface="Afacad Flux SemiBold"/>
                <a:ea typeface="Afacad Flux SemiBold"/>
                <a:cs typeface="Afacad Flux SemiBold"/>
                <a:sym typeface="Afacad Flux SemiBold"/>
              </a:rPr>
              <a:t>Needs regular model updates.</a:t>
            </a:r>
            <a:endParaRPr sz="1700"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facad Flux SemiBold"/>
              <a:buChar char="●"/>
            </a:pPr>
            <a:r>
              <a:rPr lang="en" sz="1700">
                <a:latin typeface="Afacad Flux SemiBold"/>
                <a:ea typeface="Afacad Flux SemiBold"/>
                <a:cs typeface="Afacad Flux SemiBold"/>
                <a:sym typeface="Afacad Flux SemiBold"/>
              </a:rPr>
              <a:t>Data privacy concerns.</a:t>
            </a:r>
            <a:endParaRPr sz="1700"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Afacad Flux"/>
                <a:ea typeface="Afacad Flux"/>
                <a:cs typeface="Afacad Flux"/>
                <a:sym typeface="Afacad Flux"/>
              </a:rPr>
              <a:t>Possible Solutions</a:t>
            </a:r>
            <a:endParaRPr b="1" sz="2100">
              <a:solidFill>
                <a:schemeClr val="lt1"/>
              </a:solidFill>
              <a:latin typeface="Afacad Flux"/>
              <a:ea typeface="Afacad Flux"/>
              <a:cs typeface="Afacad Flux"/>
              <a:sym typeface="Afacad Flux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SemiBold"/>
              <a:buChar char="●"/>
            </a:pPr>
            <a:r>
              <a:rPr lang="en" sz="16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Use quality training data.</a:t>
            </a:r>
            <a:endParaRPr sz="16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SemiBold"/>
              <a:buChar char="●"/>
            </a:pPr>
            <a:r>
              <a:rPr lang="en" sz="16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Continuously retrain the model.</a:t>
            </a:r>
            <a:endParaRPr sz="16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facad Flux SemiBold"/>
              <a:buChar char="●"/>
            </a:pPr>
            <a:r>
              <a:rPr lang="en" sz="1600">
                <a:solidFill>
                  <a:schemeClr val="lt1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Combine ML with traditional detection methods.</a:t>
            </a:r>
            <a:endParaRPr sz="1600">
              <a:solidFill>
                <a:schemeClr val="lt1"/>
              </a:solidFill>
              <a:latin typeface="Afacad Flux SemiBold"/>
              <a:ea typeface="Afacad Flux SemiBold"/>
              <a:cs typeface="Afacad Flux SemiBold"/>
              <a:sym typeface="Afacad Flux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facad Flux SemiBold"/>
              <a:ea typeface="Afacad Flux SemiBold"/>
              <a:cs typeface="Afacad Flux SemiBold"/>
              <a:sym typeface="Afacad Flux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7"/>
          <p:cNvSpPr txBox="1"/>
          <p:nvPr>
            <p:ph type="title"/>
          </p:nvPr>
        </p:nvSpPr>
        <p:spPr>
          <a:xfrm>
            <a:off x="228600" y="251551"/>
            <a:ext cx="6665700" cy="861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312" name="Google Shape;312;p47"/>
          <p:cNvSpPr txBox="1"/>
          <p:nvPr/>
        </p:nvSpPr>
        <p:spPr>
          <a:xfrm>
            <a:off x="349200" y="1248350"/>
            <a:ext cx="57315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facad Flux Medium"/>
              <a:buChar char="●"/>
            </a:pPr>
            <a:r>
              <a:rPr lang="en" sz="2400">
                <a:latin typeface="Afacad Flux Medium"/>
                <a:ea typeface="Afacad Flux Medium"/>
                <a:cs typeface="Afacad Flux Medium"/>
                <a:sym typeface="Afacad Flux Medium"/>
              </a:rPr>
              <a:t>Machine Learning improves network error detection.</a:t>
            </a:r>
            <a:endParaRPr sz="24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facad Flux Medium"/>
              <a:buChar char="●"/>
            </a:pPr>
            <a:r>
              <a:rPr lang="en" sz="2400">
                <a:latin typeface="Afacad Flux Medium"/>
                <a:ea typeface="Afacad Flux Medium"/>
                <a:cs typeface="Afacad Flux Medium"/>
                <a:sym typeface="Afacad Flux Medium"/>
              </a:rPr>
              <a:t>Detects faults automatically with high accuracy.</a:t>
            </a:r>
            <a:endParaRPr sz="24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facad Flux Medium"/>
              <a:buChar char="●"/>
            </a:pPr>
            <a:r>
              <a:rPr lang="en" sz="2400">
                <a:latin typeface="Afacad Flux Medium"/>
                <a:ea typeface="Afacad Flux Medium"/>
                <a:cs typeface="Afacad Flux Medium"/>
                <a:sym typeface="Afacad Flux Medium"/>
              </a:rPr>
              <a:t>Helps maintain secure and reliable networks.</a:t>
            </a:r>
            <a:endParaRPr sz="2400">
              <a:latin typeface="Afacad Flux Medium"/>
              <a:ea typeface="Afacad Flux Medium"/>
              <a:cs typeface="Afacad Flux Medium"/>
              <a:sym typeface="Afacad Flux Medium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Afacad Flux Medium"/>
              <a:buChar char="●"/>
            </a:pPr>
            <a:r>
              <a:rPr lang="en" sz="2400">
                <a:latin typeface="Afacad Flux Medium"/>
                <a:ea typeface="Afacad Flux Medium"/>
                <a:cs typeface="Afacad Flux Medium"/>
                <a:sym typeface="Afacad Flux Medium"/>
              </a:rPr>
              <a:t>Widely used in modern enterprise and cloud networks.</a:t>
            </a:r>
            <a:endParaRPr sz="2400">
              <a:latin typeface="Afacad Flux Medium"/>
              <a:ea typeface="Afacad Flux Medium"/>
              <a:cs typeface="Afacad Flux Medium"/>
              <a:sym typeface="Afacad Flu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8"/>
          <p:cNvSpPr txBox="1"/>
          <p:nvPr>
            <p:ph type="title"/>
          </p:nvPr>
        </p:nvSpPr>
        <p:spPr>
          <a:xfrm>
            <a:off x="462225" y="493150"/>
            <a:ext cx="59448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ayroom">
  <a:themeElements>
    <a:clrScheme name="Simple Light">
      <a:dk1>
        <a:srgbClr val="EEEEEE"/>
      </a:dk1>
      <a:lt1>
        <a:srgbClr val="000000"/>
      </a:lt1>
      <a:dk2>
        <a:srgbClr val="FFFFFA"/>
      </a:dk2>
      <a:lt2>
        <a:srgbClr val="BC84EE"/>
      </a:lt2>
      <a:accent1>
        <a:srgbClr val="C9F65B"/>
      </a:accent1>
      <a:accent2>
        <a:srgbClr val="FF823A"/>
      </a:accent2>
      <a:accent3>
        <a:srgbClr val="E8D1FF"/>
      </a:accent3>
      <a:accent4>
        <a:srgbClr val="5A6E28"/>
      </a:accent4>
      <a:accent5>
        <a:srgbClr val="DCFD8B"/>
      </a:accent5>
      <a:accent6>
        <a:srgbClr val="FDD5BD"/>
      </a:accent6>
      <a:hlink>
        <a:srgbClr val="68359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